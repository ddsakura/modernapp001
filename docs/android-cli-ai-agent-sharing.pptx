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560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SHARING  ·  ANDROID 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CLI gives an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hands and eyes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383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experiment: build → boot → deploy → inspect → interact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ever opening Android Studio.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4343400"/>
            <a:ext cx="2194560" cy="32004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ModernApp001 · Live Experiment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make the workflow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2860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CLI × AI Agent  |  Internal Sharing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executes · Skills remember · Agent decides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51760" cy="24688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74520"/>
            <a:ext cx="502920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911096"/>
            <a:ext cx="429768" cy="4297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CLI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28346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emulator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run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layout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screen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54680" y="27889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337560" y="1737360"/>
            <a:ext cx="2651760" cy="24688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874520"/>
            <a:ext cx="502920" cy="5029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911096"/>
            <a:ext cx="429768" cy="4297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74720" y="28346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playbooks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guidance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recipes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habits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035040" y="27889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217920" y="1737360"/>
            <a:ext cx="2651760" cy="24688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55080" y="1874520"/>
            <a:ext cx="502920" cy="502920"/>
          </a:xfrm>
          <a:prstGeom prst="rect">
            <a:avLst/>
          </a:prstGeom>
          <a:solidFill>
            <a:srgbClr val="E3A227"/>
          </a:solidFill>
          <a:ln w="12700">
            <a:solidFill>
              <a:srgbClr val="E3A227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911096"/>
            <a:ext cx="429768" cy="4297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55080" y="28346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next step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errors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state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findings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E6F4EA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94360" y="43708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CLI gives the agent hands and eyes; Skills keep it from guessing Android-specific workflow details.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closed loop, five observable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2860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CLI × AI Agent  |  Internal Sharing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produces verifiable evidence — the agent never guesses the next state.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508760" cy="18288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1508760" cy="20116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377440"/>
            <a:ext cx="1362456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04872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assembleDebug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0352" y="3136392"/>
            <a:ext cx="1362456" cy="347472"/>
          </a:xfrm>
          <a:prstGeom prst="rect">
            <a:avLst/>
          </a:prstGeom>
          <a:solidFill>
            <a:srgbClr val="E6F4EA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546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APK path known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84248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67128" y="1783080"/>
            <a:ext cx="1508760" cy="18288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67128" y="1783080"/>
            <a:ext cx="1508760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67128" y="18013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2377440"/>
            <a:ext cx="1362456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76856" y="2404872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 -dmS …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emulator start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40280" y="3136392"/>
            <a:ext cx="1362456" cy="347472"/>
          </a:xfrm>
          <a:prstGeom prst="rect">
            <a:avLst/>
          </a:prstGeom>
          <a:solidFill>
            <a:srgbClr val="E6F4EA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58568" y="31546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emulator-5554 online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94176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77056" y="1783080"/>
            <a:ext cx="1508760" cy="18288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77056" y="1783080"/>
            <a:ext cx="1508760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7056" y="18013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50208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50208" y="2377440"/>
            <a:ext cx="1362456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86784" y="2404872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run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--device=…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50208" y="3136392"/>
            <a:ext cx="1362456" cy="347472"/>
          </a:xfrm>
          <a:prstGeom prst="rect">
            <a:avLst/>
          </a:prstGeom>
          <a:solidFill>
            <a:srgbClr val="E6F4EA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68496" y="31546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MainActivity launched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04104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586984" y="1783080"/>
            <a:ext cx="1508760" cy="18288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86984" y="1783080"/>
            <a:ext cx="1508760" cy="201168"/>
          </a:xfrm>
          <a:prstGeom prst="rect">
            <a:avLst/>
          </a:prstGeom>
          <a:solidFill>
            <a:srgbClr val="E3A227"/>
          </a:solidFill>
          <a:ln w="12700">
            <a:solidFill>
              <a:srgbClr val="E3A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86984" y="18013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0136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0136" y="2377440"/>
            <a:ext cx="1362456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96712" y="2404872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layout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--pretty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60136" y="3136392"/>
            <a:ext cx="1362456" cy="347472"/>
          </a:xfrm>
          <a:prstGeom prst="rect">
            <a:avLst/>
          </a:prstGeom>
          <a:solidFill>
            <a:srgbClr val="E6F4EA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78424" y="31546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UI tree as JSON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114032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296912" y="1783080"/>
            <a:ext cx="1508760" cy="18288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296912" y="1783080"/>
            <a:ext cx="1508760" cy="201168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6912" y="18013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70064" y="203911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70064" y="2377440"/>
            <a:ext cx="1362456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2404872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shell input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 / keyevent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70064" y="3136392"/>
            <a:ext cx="1362456" cy="347472"/>
          </a:xfrm>
          <a:prstGeom prst="rect">
            <a:avLst/>
          </a:prstGeom>
          <a:solidFill>
            <a:srgbClr val="E6F4EA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88352" y="31546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State verified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7200" y="3840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The agent re-runs layout after every action to confirm state before proceeding.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repo into a runnable artifact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2860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CLI × AI Agent  |  Internal Sharing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Android Studio needed — Gradle builds the APK; android describe surfaces the output path.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2062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828800"/>
            <a:ext cx="3877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build the debug APK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assembleDebug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surface project metadata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describe --project_dir=.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1737360"/>
            <a:ext cx="3794760" cy="14630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828800"/>
            <a:ext cx="73152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1828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artifact path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176272"/>
            <a:ext cx="34747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93792" y="226771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app/build/outputs/apk/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debug/app-debug.apk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73152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337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succeeds in a headless environment — no IDE required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path is deterministic from Gradle output, no brittle guessing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failures surface through logs and can be fixed via source edits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BOOT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command, different process environment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2860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CLI × AI Agent  |  Internal Sharing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is correct. The process context is what breaks it inside a non-interactive runner.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31920" cy="23317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28800"/>
            <a:ext cx="73152" cy="29260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828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terminal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176272"/>
            <a:ext cx="3657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267712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emulator start Pixel_9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743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interactive terminal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documented path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SDK binary needed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4069080" cy="23317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828800"/>
            <a:ext cx="73152" cy="292608"/>
          </a:xfrm>
          <a:prstGeom prst="rect">
            <a:avLst/>
          </a:prstGeom>
          <a:solidFill>
            <a:srgbClr val="E3A227"/>
          </a:solidFill>
          <a:ln w="12700">
            <a:solidFill>
              <a:srgbClr val="E3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828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runner (detach!)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76272"/>
            <a:ext cx="37947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9472" y="2267712"/>
            <a:ext cx="3465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 -dmS android-pixel9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android emulator start Pixel_9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screen prevents runner cleanup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sees emulator-5554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emulator is now only a fallback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E3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336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Codex discovery: detach the emulator with screen -dmS. This workaround is now in AGENTS.md.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3–4 · DEPLOY &amp; INSPECT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is not done until the UI tree is verified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2860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CLI × AI Agent  |  Internal Sharing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layout --pretty gives the agent a machine-readable UI tree — no screenshot guessing.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5720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828800"/>
            <a:ext cx="4242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run --device=emulator-5554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--apks=app/build/.../app-debug.apk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layout --device=emulator-5554 --pretty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12080" y="1737360"/>
            <a:ext cx="3474720" cy="1417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49240" y="1828800"/>
            <a:ext cx="73152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77256" y="1828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Home layout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217627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Activity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Java8 desugar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Heads-up notification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WebView Activity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/ Favorites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73152" cy="29260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layout beats screenshots for agents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2651760" cy="1234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3611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89534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labels and tap coordinates — no coordinate guessing from pixels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3520440"/>
            <a:ext cx="2651760" cy="1234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01568" y="3611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verification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1568" y="389534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layout again after any action to confirm the screen changed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3520440"/>
            <a:ext cx="2651760" cy="1234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36208" y="3611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detection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389534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field shows exactly which elements can be tapped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INTERACT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Decide → Execute → Verify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2860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CLI × AI Agent  |  Internal Sharing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blindly clicks pixels. It reads the UI tree, maps intent to coordinates, then confirms.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20624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828800"/>
            <a:ext cx="3877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android layout --pretty output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"text": "Open WebView Activity",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"center": "[336, 1543]",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"interactions": ["clickable", "focusable"]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1783080"/>
            <a:ext cx="1261872" cy="14630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783080"/>
            <a:ext cx="1261872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013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65192" y="2103120"/>
            <a:ext cx="111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layout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find text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53912" y="23774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1261872" cy="14630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83080"/>
            <a:ext cx="1261872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013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2103120"/>
            <a:ext cx="111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shell input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 336 1543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571232" y="23774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1783080"/>
            <a:ext cx="1261872" cy="14630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26680" y="1783080"/>
            <a:ext cx="1261872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18013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99832" y="2103120"/>
            <a:ext cx="111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layout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confirm title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73152" cy="292608"/>
          </a:xfrm>
          <a:prstGeom prst="rect">
            <a:avLst/>
          </a:prstGeom>
          <a:solidFill>
            <a:srgbClr val="656D76"/>
          </a:solidFill>
          <a:ln w="12700">
            <a:solidFill>
              <a:srgbClr val="656D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3474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ADB gestures (quick reference)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17320" y="3840480"/>
            <a:ext cx="29718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1328" y="384962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shell input tap 336 1543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3840480"/>
            <a:ext cx="29718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33288" y="384962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shell input swipe 336 1543 336 1543 900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17320" y="4251960"/>
            <a:ext cx="29718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81328" y="426110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shell input keyevent KEYCODE_BACK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4251960"/>
            <a:ext cx="29718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33288" y="426110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shell input swipe 540 1700 540 700 450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output is workflow memory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2860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CLI × AI Agent  |  Internal Sharing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commands is easy. The durable value is capturing what failed — so the agent never rediscovers the same workaround.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846320" cy="23317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74520"/>
            <a:ext cx="73152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 (project root)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221992"/>
            <a:ext cx="45262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313432"/>
            <a:ext cx="41970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Emulator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`screen -dmS` — direct start hangs Codex.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Layout vs screenshot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use `android layout --pretty`.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returns clickable coordinates.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Deploy verification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layout after `android run` to confirm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MainActivity is foreground.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1783080"/>
            <a:ext cx="3154680" cy="23317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874520"/>
            <a:ext cx="73152" cy="29260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97296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221992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AGENTS.md at session start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already-solved failure modes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builds on the previous one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engineer can add to 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73152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4114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runbook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53128"/>
            <a:ext cx="82296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" y="4544568"/>
            <a:ext cx="7900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 -dmS android-pixel9 android emulator start Pixel_9   &amp;&amp;   adb wait-for-device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assembleDebug   &amp;&amp;   android run --device=emulator-5554 --apks=...   &amp;&amp;   android layout --pretty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3DDC84"/>
          </a:solidFill>
          <a:ln>
            <a:noFill/>
          </a:ln>
        </p:spPr>
      </p:sp>
      <p:sp>
        <p:nvSpPr>
          <p:cNvPr id="3" name="Kicker"/>
          <p:cNvSpPr/>
          <p:nvPr/>
        </p:nvSpPr>
        <p:spPr>
          <a:xfrm>
            <a:off x="402336" y="25603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000" b="1" dirty="0">
                <a:solidFill>
                  <a:srgbClr val="0B5D37"/>
                </a:solidFill>
                <a:latin typeface="Arial"/>
              </a:rPr>
              <a:t>OFFICIAL ANDROID SKILLS</a:t>
            </a:r>
            <a:endParaRPr lang="en-US" sz="1000" dirty="0"/>
          </a:p>
        </p:txBody>
      </p:sp>
      <p:sp>
        <p:nvSpPr>
          <p:cNvPr id="4" name="Title"/>
          <p:cNvSpPr/>
          <p:nvPr/>
        </p:nvSpPr>
        <p:spPr>
          <a:xfrm>
            <a:off x="384048" y="512064"/>
            <a:ext cx="67208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2600" b="1" dirty="0">
                <a:solidFill>
                  <a:srgbClr val="17202A"/>
                </a:solidFill>
                <a:latin typeface="Arial"/>
              </a:rPr>
              <a:t>Which Android skills</a:t>
            </a:r>
            <a:endParaRPr lang="en-US" sz="2600" dirty="0"/>
          </a:p>
        </p:txBody>
      </p:sp>
      <p:sp>
        <p:nvSpPr>
          <p:cNvPr id="5" name="Lead"/>
          <p:cNvSpPr/>
          <p:nvPr/>
        </p:nvSpPr>
        <p:spPr>
          <a:xfrm>
            <a:off x="402336" y="987552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150" dirty="0">
                <a:solidFill>
                  <a:srgbClr val="5D6B7C"/>
                </a:solidFill>
                <a:latin typeface="Arial"/>
              </a:rPr>
              <a:t>Skills give the agent Android-specific workflow memory. For this project, some are daily tools; others are situational.</a:t>
            </a:r>
            <a:endParaRPr lang="en-US" sz="1150" dirty="0"/>
          </a:p>
        </p:txBody>
      </p:sp>
      <p:sp>
        <p:nvSpPr>
          <p:cNvPr id="6" name="android-cli card"/>
          <p:cNvSpPr/>
          <p:nvPr/>
        </p:nvSpPr>
        <p:spPr>
          <a:xfrm>
            <a:off x="566928" y="1417320"/>
            <a:ext cx="3520440" cy="56692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7DEE8"/>
            </a:solidFill>
          </a:ln>
        </p:spPr>
        <p:txBody>
          <a:bodyPr wrap="square" lIns="128016" tIns="73152" rIns="841248" bIns="45720" anchor="t"/>
          <a:lstStyle/>
          <a:p>
            <a:r>
              <a:rPr lang="en-US" sz="1350" b="1" dirty="0">
                <a:solidFill>
                  <a:srgbClr val="17202A"/>
                </a:solidFill>
                <a:latin typeface="Arial"/>
              </a:rPr>
              <a:t>android-cli</a:t>
            </a:r>
            <a:endParaRPr lang="en-US" sz="1350" dirty="0"/>
          </a:p>
          <a:p>
            <a:r>
              <a:rPr lang="en-US" sz="920" dirty="0">
                <a:solidFill>
                  <a:srgbClr val="5D6B7C"/>
                </a:solidFill>
                <a:latin typeface="Arial"/>
              </a:rPr>
              <a:t>Emulator, deploy, layout inspection, screenshots, docs lookup.</a:t>
            </a:r>
            <a:endParaRPr lang="en-US" sz="920" dirty="0"/>
          </a:p>
        </p:txBody>
      </p:sp>
      <p:sp>
        <p:nvSpPr>
          <p:cNvPr id="7" name="android-cli accent"/>
          <p:cNvSpPr/>
          <p:nvPr/>
        </p:nvSpPr>
        <p:spPr>
          <a:xfrm>
            <a:off x="566928" y="1417320"/>
            <a:ext cx="50292" cy="566928"/>
          </a:xfrm>
          <a:prstGeom prst="rect">
            <a:avLst/>
          </a:prstGeom>
          <a:solidFill>
            <a:srgbClr val="3DDC84"/>
          </a:solidFill>
          <a:ln>
            <a:noFill/>
          </a:ln>
        </p:spPr>
      </p:sp>
      <p:sp>
        <p:nvSpPr>
          <p:cNvPr id="8" name="android-cli status"/>
          <p:cNvSpPr/>
          <p:nvPr/>
        </p:nvSpPr>
        <p:spPr>
          <a:xfrm>
            <a:off x="3300984" y="1508760"/>
            <a:ext cx="603504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36576" tIns="32004" rIns="36576" bIns="0" anchor="t"/>
          <a:lstStyle/>
          <a:p>
            <a:r>
              <a:rPr lang="en-US" sz="780" b="1" dirty="0">
                <a:solidFill>
                  <a:srgbClr val="0B5D37"/>
                </a:solidFill>
                <a:latin typeface="Arial"/>
              </a:rPr>
              <a:t>High</a:t>
            </a:r>
            <a:endParaRPr lang="en-US" sz="780" dirty="0"/>
          </a:p>
        </p:txBody>
      </p:sp>
      <p:sp>
        <p:nvSpPr>
          <p:cNvPr id="9" name="edge-to-edge card"/>
          <p:cNvSpPr/>
          <p:nvPr/>
        </p:nvSpPr>
        <p:spPr>
          <a:xfrm>
            <a:off x="566928" y="2112264"/>
            <a:ext cx="3520440" cy="56692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7DEE8"/>
            </a:solidFill>
          </a:ln>
        </p:spPr>
        <p:txBody>
          <a:bodyPr wrap="square" lIns="128016" tIns="73152" rIns="841248" bIns="45720" anchor="t"/>
          <a:lstStyle/>
          <a:p>
            <a:r>
              <a:rPr lang="en-US" sz="1350" b="1" dirty="0">
                <a:solidFill>
                  <a:srgbClr val="17202A"/>
                </a:solidFill>
                <a:latin typeface="Arial"/>
              </a:rPr>
              <a:t>edge-to-edge</a:t>
            </a:r>
            <a:endParaRPr lang="en-US" sz="1350" dirty="0"/>
          </a:p>
          <a:p>
            <a:r>
              <a:rPr lang="en-US" sz="920" dirty="0">
                <a:solidFill>
                  <a:srgbClr val="5D6B7C"/>
                </a:solidFill>
                <a:latin typeface="Arial"/>
              </a:rPr>
              <a:t>Insets audit and Compose/XML migration guidance.</a:t>
            </a:r>
            <a:endParaRPr lang="en-US" sz="920" dirty="0"/>
          </a:p>
        </p:txBody>
      </p:sp>
      <p:sp>
        <p:nvSpPr>
          <p:cNvPr id="10" name="edge-to-edge accent"/>
          <p:cNvSpPr/>
          <p:nvPr/>
        </p:nvSpPr>
        <p:spPr>
          <a:xfrm>
            <a:off x="566928" y="2112264"/>
            <a:ext cx="50292" cy="566928"/>
          </a:xfrm>
          <a:prstGeom prst="rect">
            <a:avLst/>
          </a:prstGeom>
          <a:solidFill>
            <a:srgbClr val="3DDC84"/>
          </a:solidFill>
          <a:ln>
            <a:noFill/>
          </a:ln>
        </p:spPr>
      </p:sp>
      <p:sp>
        <p:nvSpPr>
          <p:cNvPr id="11" name="edge-to-edge status"/>
          <p:cNvSpPr/>
          <p:nvPr/>
        </p:nvSpPr>
        <p:spPr>
          <a:xfrm>
            <a:off x="3300984" y="2203704"/>
            <a:ext cx="603504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36576" tIns="32004" rIns="36576" bIns="0" anchor="t"/>
          <a:lstStyle/>
          <a:p>
            <a:r>
              <a:rPr lang="en-US" sz="780" b="1" dirty="0">
                <a:solidFill>
                  <a:srgbClr val="0B5D37"/>
                </a:solidFill>
                <a:latin typeface="Arial"/>
              </a:rPr>
              <a:t>High</a:t>
            </a:r>
            <a:endParaRPr lang="en-US" sz="780" dirty="0"/>
          </a:p>
        </p:txBody>
      </p:sp>
      <p:sp>
        <p:nvSpPr>
          <p:cNvPr id="12" name="xml -&gt; Compose card"/>
          <p:cNvSpPr/>
          <p:nvPr/>
        </p:nvSpPr>
        <p:spPr>
          <a:xfrm>
            <a:off x="566928" y="2807208"/>
            <a:ext cx="3520440" cy="56692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7DEE8"/>
            </a:solidFill>
          </a:ln>
        </p:spPr>
        <p:txBody>
          <a:bodyPr wrap="square" lIns="128016" tIns="73152" rIns="841248" bIns="45720" anchor="t"/>
          <a:lstStyle/>
          <a:p>
            <a:r>
              <a:rPr lang="en-US" sz="1350" b="1" dirty="0">
                <a:solidFill>
                  <a:srgbClr val="17202A"/>
                </a:solidFill>
                <a:latin typeface="Arial"/>
              </a:rPr>
              <a:t>xml -&gt; Compose</a:t>
            </a:r>
            <a:endParaRPr lang="en-US" sz="1350" dirty="0"/>
          </a:p>
          <a:p>
            <a:r>
              <a:rPr lang="en-US" sz="920" dirty="0">
                <a:solidFill>
                  <a:srgbClr val="5D6B7C"/>
                </a:solidFill>
                <a:latin typeface="Arial"/>
              </a:rPr>
              <a:t>Useful while XML screens still exist beside Compose.</a:t>
            </a:r>
            <a:endParaRPr lang="en-US" sz="920" dirty="0"/>
          </a:p>
        </p:txBody>
      </p:sp>
      <p:sp>
        <p:nvSpPr>
          <p:cNvPr id="13" name="xml -&gt; Compose accent"/>
          <p:cNvSpPr/>
          <p:nvPr/>
        </p:nvSpPr>
        <p:spPr>
          <a:xfrm>
            <a:off x="566928" y="2807208"/>
            <a:ext cx="50292" cy="566928"/>
          </a:xfrm>
          <a:prstGeom prst="rect">
            <a:avLst/>
          </a:prstGeom>
          <a:solidFill>
            <a:srgbClr val="3DDC84"/>
          </a:solidFill>
          <a:ln>
            <a:noFill/>
          </a:ln>
        </p:spPr>
      </p:sp>
      <p:sp>
        <p:nvSpPr>
          <p:cNvPr id="14" name="xml -&gt; Compose status"/>
          <p:cNvSpPr/>
          <p:nvPr/>
        </p:nvSpPr>
        <p:spPr>
          <a:xfrm>
            <a:off x="3300984" y="2898648"/>
            <a:ext cx="603504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36576" tIns="32004" rIns="36576" bIns="0" anchor="t"/>
          <a:lstStyle/>
          <a:p>
            <a:r>
              <a:rPr lang="en-US" sz="780" b="1" dirty="0">
                <a:solidFill>
                  <a:srgbClr val="0B5D37"/>
                </a:solidFill>
                <a:latin typeface="Arial"/>
              </a:rPr>
              <a:t>High</a:t>
            </a:r>
            <a:endParaRPr lang="en-US" sz="780" dirty="0"/>
          </a:p>
        </p:txBody>
      </p:sp>
      <p:sp>
        <p:nvSpPr>
          <p:cNvPr id="15" name="Navigation 3 card"/>
          <p:cNvSpPr/>
          <p:nvPr/>
        </p:nvSpPr>
        <p:spPr>
          <a:xfrm>
            <a:off x="566928" y="3502152"/>
            <a:ext cx="3520440" cy="56692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7DEE8"/>
            </a:solidFill>
          </a:ln>
        </p:spPr>
        <p:txBody>
          <a:bodyPr wrap="square" lIns="128016" tIns="73152" rIns="841248" bIns="45720" anchor="t"/>
          <a:lstStyle/>
          <a:p>
            <a:r>
              <a:rPr lang="en-US" sz="1350" b="1" dirty="0">
                <a:solidFill>
                  <a:srgbClr val="17202A"/>
                </a:solidFill>
                <a:latin typeface="Arial"/>
              </a:rPr>
              <a:t>Navigation 3</a:t>
            </a:r>
            <a:endParaRPr lang="en-US" sz="1350" dirty="0"/>
          </a:p>
          <a:p>
            <a:r>
              <a:rPr lang="en-US" sz="920" dirty="0">
                <a:solidFill>
                  <a:srgbClr val="5D6B7C"/>
                </a:solidFill>
                <a:latin typeface="Arial"/>
              </a:rPr>
              <a:t>Good fit when revisiting the current Compose + Fragment navigation mix.</a:t>
            </a:r>
            <a:endParaRPr lang="en-US" sz="920" dirty="0"/>
          </a:p>
        </p:txBody>
      </p:sp>
      <p:sp>
        <p:nvSpPr>
          <p:cNvPr id="16" name="Navigation 3 accent"/>
          <p:cNvSpPr/>
          <p:nvPr/>
        </p:nvSpPr>
        <p:spPr>
          <a:xfrm>
            <a:off x="566928" y="3502152"/>
            <a:ext cx="50292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Navigation 3 status"/>
          <p:cNvSpPr/>
          <p:nvPr/>
        </p:nvSpPr>
        <p:spPr>
          <a:xfrm>
            <a:off x="3300984" y="3593592"/>
            <a:ext cx="603504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36576" tIns="32004" rIns="36576" bIns="0" anchor="t"/>
          <a:lstStyle/>
          <a:p>
            <a:r>
              <a:rPr lang="en-US" sz="780" b="1" dirty="0">
                <a:solidFill>
                  <a:srgbClr val="5D6B7C"/>
                </a:solidFill>
                <a:latin typeface="Arial"/>
              </a:rPr>
              <a:t>Med</a:t>
            </a:r>
            <a:endParaRPr lang="en-US" sz="780" dirty="0"/>
          </a:p>
        </p:txBody>
      </p:sp>
      <p:sp>
        <p:nvSpPr>
          <p:cNvPr id="18" name="R8 analyzer card"/>
          <p:cNvSpPr/>
          <p:nvPr/>
        </p:nvSpPr>
        <p:spPr>
          <a:xfrm>
            <a:off x="4590288" y="1417320"/>
            <a:ext cx="3520440" cy="56692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7DEE8"/>
            </a:solidFill>
          </a:ln>
        </p:spPr>
        <p:txBody>
          <a:bodyPr wrap="square" lIns="128016" tIns="73152" rIns="841248" bIns="45720" anchor="t"/>
          <a:lstStyle/>
          <a:p>
            <a:r>
              <a:rPr lang="en-US" sz="1350" b="1" dirty="0">
                <a:solidFill>
                  <a:srgbClr val="17202A"/>
                </a:solidFill>
                <a:latin typeface="Arial"/>
              </a:rPr>
              <a:t>R8 analyzer</a:t>
            </a:r>
            <a:endParaRPr lang="en-US" sz="1350" dirty="0"/>
          </a:p>
          <a:p>
            <a:r>
              <a:rPr lang="en-US" sz="920" dirty="0">
                <a:solidFill>
                  <a:srgbClr val="5D6B7C"/>
                </a:solidFill>
                <a:latin typeface="Arial"/>
              </a:rPr>
              <a:t>Release shrink/keep-rule review once minify matters.</a:t>
            </a:r>
            <a:endParaRPr lang="en-US" sz="920" dirty="0"/>
          </a:p>
        </p:txBody>
      </p:sp>
      <p:sp>
        <p:nvSpPr>
          <p:cNvPr id="19" name="R8 analyzer accent"/>
          <p:cNvSpPr/>
          <p:nvPr/>
        </p:nvSpPr>
        <p:spPr>
          <a:xfrm>
            <a:off x="4590288" y="1417320"/>
            <a:ext cx="50292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R8 analyzer status"/>
          <p:cNvSpPr/>
          <p:nvPr/>
        </p:nvSpPr>
        <p:spPr>
          <a:xfrm>
            <a:off x="7324344" y="1508760"/>
            <a:ext cx="603504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36576" tIns="32004" rIns="36576" bIns="0" anchor="t"/>
          <a:lstStyle/>
          <a:p>
            <a:r>
              <a:rPr lang="en-US" sz="780" b="1" dirty="0">
                <a:solidFill>
                  <a:srgbClr val="5D6B7C"/>
                </a:solidFill>
                <a:latin typeface="Arial"/>
              </a:rPr>
              <a:t>Med</a:t>
            </a:r>
            <a:endParaRPr lang="en-US" sz="780" dirty="0"/>
          </a:p>
        </p:txBody>
      </p:sp>
      <p:sp>
        <p:nvSpPr>
          <p:cNvPr id="21" name="AGP 9 upgrade card"/>
          <p:cNvSpPr/>
          <p:nvPr/>
        </p:nvSpPr>
        <p:spPr>
          <a:xfrm>
            <a:off x="4590288" y="2112264"/>
            <a:ext cx="3520440" cy="56692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7DEE8"/>
            </a:solidFill>
          </a:ln>
        </p:spPr>
        <p:txBody>
          <a:bodyPr wrap="square" lIns="128016" tIns="73152" rIns="841248" bIns="45720" anchor="t"/>
          <a:lstStyle/>
          <a:p>
            <a:r>
              <a:rPr lang="en-US" sz="1350" b="1" dirty="0">
                <a:solidFill>
                  <a:srgbClr val="17202A"/>
                </a:solidFill>
                <a:latin typeface="Arial"/>
              </a:rPr>
              <a:t>AGP 9 upgrade</a:t>
            </a:r>
            <a:endParaRPr lang="en-US" sz="1350" dirty="0"/>
          </a:p>
          <a:p>
            <a:r>
              <a:rPr lang="en-US" sz="920" dirty="0">
                <a:solidFill>
                  <a:srgbClr val="5D6B7C"/>
                </a:solidFill>
                <a:latin typeface="Arial"/>
              </a:rPr>
              <a:t>Relevant only during build-system migration planning.</a:t>
            </a:r>
            <a:endParaRPr lang="en-US" sz="920" dirty="0"/>
          </a:p>
        </p:txBody>
      </p:sp>
      <p:sp>
        <p:nvSpPr>
          <p:cNvPr id="22" name="AGP 9 upgrade accent"/>
          <p:cNvSpPr/>
          <p:nvPr/>
        </p:nvSpPr>
        <p:spPr>
          <a:xfrm>
            <a:off x="4590288" y="2112264"/>
            <a:ext cx="5029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3" name="AGP 9 upgrade status"/>
          <p:cNvSpPr/>
          <p:nvPr/>
        </p:nvSpPr>
        <p:spPr>
          <a:xfrm>
            <a:off x="7324344" y="2203704"/>
            <a:ext cx="603504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36576" tIns="32004" rIns="36576" bIns="0" anchor="t"/>
          <a:lstStyle/>
          <a:p>
            <a:r>
              <a:rPr lang="en-US" sz="780" b="1" dirty="0">
                <a:solidFill>
                  <a:srgbClr val="5D6B7C"/>
                </a:solidFill>
                <a:latin typeface="Arial"/>
              </a:rPr>
              <a:t>Conditional</a:t>
            </a:r>
            <a:endParaRPr lang="en-US" sz="780" dirty="0"/>
          </a:p>
        </p:txBody>
      </p:sp>
      <p:sp>
        <p:nvSpPr>
          <p:cNvPr id="24" name="Play Billing upgrade card"/>
          <p:cNvSpPr/>
          <p:nvPr/>
        </p:nvSpPr>
        <p:spPr>
          <a:xfrm>
            <a:off x="4590288" y="2807208"/>
            <a:ext cx="3520440" cy="56692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7DEE8"/>
            </a:solidFill>
          </a:ln>
        </p:spPr>
        <p:txBody>
          <a:bodyPr wrap="square" lIns="128016" tIns="73152" rIns="841248" bIns="45720" anchor="t"/>
          <a:lstStyle/>
          <a:p>
            <a:r>
              <a:rPr lang="en-US" sz="1350" b="1" dirty="0">
                <a:solidFill>
                  <a:srgbClr val="17202A"/>
                </a:solidFill>
                <a:latin typeface="Arial"/>
              </a:rPr>
              <a:t>Play Billing upgrade</a:t>
            </a:r>
            <a:endParaRPr lang="en-US" sz="1350" dirty="0"/>
          </a:p>
          <a:p>
            <a:r>
              <a:rPr lang="en-US" sz="920" dirty="0">
                <a:solidFill>
                  <a:srgbClr val="5D6B7C"/>
                </a:solidFill>
                <a:latin typeface="Arial"/>
              </a:rPr>
              <a:t>Currently not relevant: no billing dependency in this app.</a:t>
            </a:r>
            <a:endParaRPr lang="en-US" sz="920" dirty="0"/>
          </a:p>
        </p:txBody>
      </p:sp>
      <p:sp>
        <p:nvSpPr>
          <p:cNvPr id="25" name="Play Billing upgrade accent"/>
          <p:cNvSpPr/>
          <p:nvPr/>
        </p:nvSpPr>
        <p:spPr>
          <a:xfrm>
            <a:off x="4590288" y="2807208"/>
            <a:ext cx="50292" cy="566928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6" name="Play Billing upgrade status"/>
          <p:cNvSpPr/>
          <p:nvPr/>
        </p:nvSpPr>
        <p:spPr>
          <a:xfrm>
            <a:off x="7324344" y="2898648"/>
            <a:ext cx="603504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36576" tIns="32004" rIns="36576" bIns="0" anchor="t"/>
          <a:lstStyle/>
          <a:p>
            <a:r>
              <a:rPr lang="en-US" sz="780" b="1" dirty="0">
                <a:solidFill>
                  <a:srgbClr val="5D6B7C"/>
                </a:solidFill>
                <a:latin typeface="Arial"/>
              </a:rPr>
              <a:t>Low</a:t>
            </a:r>
            <a:endParaRPr lang="en-US" sz="780" dirty="0"/>
          </a:p>
        </p:txBody>
      </p:sp>
      <p:sp>
        <p:nvSpPr>
          <p:cNvPr id="27" name="Footer"/>
          <p:cNvSpPr/>
          <p:nvPr/>
        </p:nvSpPr>
        <p:spPr>
          <a:xfrm>
            <a:off x="402336" y="4315968"/>
            <a:ext cx="7223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950" dirty="0">
                <a:solidFill>
                  <a:srgbClr val="5D6B7C"/>
                </a:solidFill>
                <a:latin typeface="Arial"/>
              </a:rPr>
              <a:t>Framing: skills choose the workflow; Android CLI executes it against the device.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3DDC84"/>
          </a:solidFill>
          <a:ln>
            <a:noFill/>
          </a:ln>
        </p:spPr>
      </p:sp>
      <p:sp>
        <p:nvSpPr>
          <p:cNvPr id="3" name="Kicker"/>
          <p:cNvSpPr/>
          <p:nvPr/>
        </p:nvSpPr>
        <p:spPr>
          <a:xfrm>
            <a:off x="402336" y="25603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000" b="1" dirty="0">
                <a:solidFill>
                  <a:srgbClr val="0B5D37"/>
                </a:solidFill>
                <a:latin typeface="Arial"/>
              </a:rPr>
              <a:t>EDGE-TO-EDGE CASE</a:t>
            </a:r>
            <a:endParaRPr lang="en-US" sz="1000" dirty="0"/>
          </a:p>
        </p:txBody>
      </p:sp>
      <p:sp>
        <p:nvSpPr>
          <p:cNvPr id="4" name="Title"/>
          <p:cNvSpPr/>
          <p:nvPr/>
        </p:nvSpPr>
        <p:spPr>
          <a:xfrm>
            <a:off x="384048" y="512064"/>
            <a:ext cx="690372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2600" b="1" dirty="0">
                <a:solidFill>
                  <a:srgbClr val="17202A"/>
                </a:solidFill>
                <a:latin typeface="Arial"/>
              </a:rPr>
              <a:t>MainActivity: same-looking UI, safer insets</a:t>
            </a:r>
            <a:endParaRPr lang="en-US" sz="2600" dirty="0"/>
          </a:p>
        </p:txBody>
      </p:sp>
      <p:sp>
        <p:nvSpPr>
          <p:cNvPr id="5" name="Lead"/>
          <p:cNvSpPr/>
          <p:nvPr/>
        </p:nvSpPr>
        <p:spPr>
          <a:xfrm>
            <a:off x="402336" y="9875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120" dirty="0">
                <a:solidFill>
                  <a:srgbClr val="5D6B7C"/>
                </a:solidFill>
                <a:latin typeface="Arial"/>
              </a:rPr>
              <a:t>The visible screen barely changed. The fix moved inset handling to the right layer so lists and future controls do not collide with system bars.</a:t>
            </a:r>
            <a:endParaRPr lang="en-US" sz="1120" dirty="0"/>
          </a:p>
        </p:txBody>
      </p:sp>
      <p:sp>
        <p:nvSpPr>
          <p:cNvPr id="6" name="Before card"/>
          <p:cNvSpPr/>
          <p:nvPr/>
        </p:nvSpPr>
        <p:spPr>
          <a:xfrm>
            <a:off x="530352" y="1389888"/>
            <a:ext cx="3611880" cy="2212848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F2D6A2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Before label"/>
          <p:cNvSpPr/>
          <p:nvPr/>
        </p:nvSpPr>
        <p:spPr>
          <a:xfrm>
            <a:off x="694944" y="150876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700" b="1" dirty="0">
                <a:solidFill>
                  <a:srgbClr val="17202A"/>
                </a:solidFill>
                <a:latin typeface="Arial"/>
              </a:rPr>
              <a:t>Before</a:t>
            </a:r>
            <a:endParaRPr lang="en-US" sz="1700" dirty="0"/>
          </a:p>
        </p:txBody>
      </p:sp>
      <p:sp>
        <p:nvSpPr>
          <p:cNvPr id="8" name="Before code"/>
          <p:cNvSpPr/>
          <p:nvPr/>
        </p:nvSpPr>
        <p:spPr>
          <a:xfrm>
            <a:off x="694944" y="1865376"/>
            <a:ext cx="3282696" cy="1161288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09728" tIns="82296" rIns="73152" bIns="45720" anchor="t"/>
          <a:lstStyle/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setContent {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  Scaffold { padding -&gt;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    Column(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      Modifier.padding(padding)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    ) { NavigationHost(...) }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  }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}</a:t>
            </a:r>
            <a:endParaRPr lang="en-US" sz="850" dirty="0"/>
          </a:p>
        </p:txBody>
      </p:sp>
      <p:sp>
        <p:nvSpPr>
          <p:cNvPr id="9" name="Before note"/>
          <p:cNvSpPr/>
          <p:nvPr/>
        </p:nvSpPr>
        <p:spPr>
          <a:xfrm>
            <a:off x="694944" y="3108960"/>
            <a:ext cx="328269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930" dirty="0">
                <a:solidFill>
                  <a:srgbClr val="92400E"/>
                </a:solidFill>
                <a:latin typeface="Arial"/>
              </a:rPr>
              <a:t>Risk: parent padding protected the frame, but the list itself did not own inset consumption.</a:t>
            </a:r>
            <a:endParaRPr lang="en-US" sz="930" dirty="0"/>
          </a:p>
        </p:txBody>
      </p:sp>
      <p:sp>
        <p:nvSpPr>
          <p:cNvPr id="10" name="After card"/>
          <p:cNvSpPr/>
          <p:nvPr/>
        </p:nvSpPr>
        <p:spPr>
          <a:xfrm>
            <a:off x="4590288" y="1389888"/>
            <a:ext cx="3611880" cy="2212848"/>
          </a:xfrm>
          <a:prstGeom prst="roundRect">
            <a:avLst/>
          </a:prstGeom>
          <a:solidFill>
            <a:srgbClr val="F7FAF8"/>
          </a:solidFill>
          <a:ln w="9525">
            <a:solidFill>
              <a:srgbClr val="CFEBDD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1" name="After label"/>
          <p:cNvSpPr/>
          <p:nvPr/>
        </p:nvSpPr>
        <p:spPr>
          <a:xfrm>
            <a:off x="4754880" y="150876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700" b="1" dirty="0">
                <a:solidFill>
                  <a:srgbClr val="17202A"/>
                </a:solidFill>
                <a:latin typeface="Arial"/>
              </a:rPr>
              <a:t>After</a:t>
            </a:r>
            <a:endParaRPr lang="en-US" sz="1700" dirty="0"/>
          </a:p>
        </p:txBody>
      </p:sp>
      <p:sp>
        <p:nvSpPr>
          <p:cNvPr id="12" name="After code"/>
          <p:cNvSpPr/>
          <p:nvPr/>
        </p:nvSpPr>
        <p:spPr>
          <a:xfrm>
            <a:off x="4754880" y="1865376"/>
            <a:ext cx="3282696" cy="1161288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09728" tIns="82296" rIns="73152" bIns="45720" anchor="t"/>
          <a:lstStyle/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enableEdgeToEdge()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Scaffold { innerPadding -&gt;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  NavigationHost(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    contentPadding = innerPadding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  )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}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LazyColumn(contentPadding = contentPadding)</a:t>
            </a:r>
            <a:endParaRPr lang="en-US" sz="850" dirty="0"/>
          </a:p>
          <a:p>
            <a:r>
              <a:rPr lang="en-US" sz="850" dirty="0">
                <a:solidFill>
                  <a:srgbClr val="FFFFFF"/>
                </a:solidFill>
                <a:latin typeface="Courier New"/>
              </a:rPr>
              <a:t>  .consumeWindowInsets(contentPadding)</a:t>
            </a:r>
            <a:endParaRPr lang="en-US" sz="850" dirty="0"/>
          </a:p>
        </p:txBody>
      </p:sp>
      <p:sp>
        <p:nvSpPr>
          <p:cNvPr id="13" name="After note"/>
          <p:cNvSpPr/>
          <p:nvPr/>
        </p:nvSpPr>
        <p:spPr>
          <a:xfrm>
            <a:off x="4754880" y="3108960"/>
            <a:ext cx="328269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930" dirty="0">
                <a:solidFill>
                  <a:srgbClr val="0B5D37"/>
                </a:solidFill>
                <a:latin typeface="Arial"/>
              </a:rPr>
              <a:t>Result: the screen looks the same, but scroll edges and future controls are safer.</a:t>
            </a:r>
            <a:endParaRPr lang="en-US" sz="930" dirty="0"/>
          </a:p>
        </p:txBody>
      </p:sp>
      <p:sp>
        <p:nvSpPr>
          <p:cNvPr id="14" name="Verification box"/>
          <p:cNvSpPr/>
          <p:nvPr/>
        </p:nvSpPr>
        <p:spPr>
          <a:xfrm>
            <a:off x="530352" y="3794760"/>
            <a:ext cx="7607808" cy="4114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7DEE8"/>
            </a:solidFill>
          </a:ln>
        </p:spPr>
        <p:txBody>
          <a:bodyPr wrap="square" lIns="137160" tIns="64008" rIns="137160" bIns="36576" anchor="t"/>
          <a:lstStyle/>
          <a:p>
            <a:r>
              <a:rPr lang="en-US" sz="1050" b="1" dirty="0">
                <a:solidFill>
                  <a:srgbClr val="17202A"/>
                </a:solidFill>
                <a:latin typeface="Arial"/>
              </a:rPr>
              <a:t>Verified after patch</a:t>
            </a:r>
            <a:endParaRPr lang="en-US" sz="1050" dirty="0"/>
          </a:p>
          <a:p>
            <a:r>
              <a:rPr lang="en-US" sz="850" dirty="0">
                <a:solidFill>
                  <a:srgbClr val="5D6B7C"/>
                </a:solidFill>
                <a:latin typeface="Arial"/>
              </a:rPr>
              <a:t>./gradlew assembleDebug passed; android run deployed; android layout still showed Home, Open WebView Activity, and bottom nav.</a:t>
            </a:r>
            <a:endParaRPr lang="en-US" sz="850" dirty="0"/>
          </a:p>
        </p:txBody>
      </p:sp>
      <p:sp>
        <p:nvSpPr>
          <p:cNvPr id="15" name="Takeaway"/>
          <p:cNvSpPr/>
          <p:nvPr/>
        </p:nvSpPr>
        <p:spPr>
          <a:xfrm>
            <a:off x="530352" y="4315968"/>
            <a:ext cx="7607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950" dirty="0">
                <a:solidFill>
                  <a:srgbClr val="5D6B7C"/>
                </a:solidFill>
                <a:latin typeface="Arial"/>
              </a:rPr>
              <a:t>Takeaway: edge-to-edge work is often a behavioral fix, not a dramatic visual redesign.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26974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389888"/>
            <a:ext cx="365760" cy="3657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408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898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wraps older standalone workflows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2648" y="18562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emulator, layout, run unify what was previously scattered SDK commands.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55848" y="1261872"/>
            <a:ext cx="26974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65576" y="1389888"/>
            <a:ext cx="365760" cy="3657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140817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04488" y="13898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steer toward current practices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465576" y="18562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skills, the agent falls back to outdated patterns. With them, it picks the right path first.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08776" y="1261872"/>
            <a:ext cx="26974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18504" y="1389888"/>
            <a:ext cx="365760" cy="365760"/>
          </a:xfrm>
          <a:prstGeom prst="rect">
            <a:avLst/>
          </a:prstGeom>
          <a:solidFill>
            <a:srgbClr val="E3A227"/>
          </a:solidFill>
          <a:ln w="12700">
            <a:solidFill>
              <a:srgbClr val="E3A22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40817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57416" y="13898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inspection = real UI verification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318504" y="18562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coordinates eliminate visual guessing. Always prefer layout over screenshot for agents.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3044952"/>
            <a:ext cx="26974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12648" y="3172968"/>
            <a:ext cx="365760" cy="3657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19125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1729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screen solves Codex lifecycle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12648" y="363931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-dmS is the key. Direct emulator start hangs the runner. Now documented in AGENTS.md.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355848" y="3044952"/>
            <a:ext cx="26974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65576" y="3172968"/>
            <a:ext cx="365760" cy="3657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319125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04488" y="31729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is the durable deliverable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465576" y="363931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runbook that prevents the next engineer — or agent — from rediscovering the same workarounds.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run android layout --pretty on your next debug session.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1298</Words>
  <Application>Microsoft Macintosh PowerPoint</Application>
  <PresentationFormat>如螢幕大小 (16:9)</PresentationFormat>
  <Paragraphs>241</Paragraphs>
  <Slides>11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CLI × AI Agent – Internal Sharing</dc:title>
  <dc:subject>PptxGenJS Presentation</dc:subject>
  <dc:creator>PptxGenJS</dc:creator>
  <cp:lastModifiedBy>柯南 賽拉維</cp:lastModifiedBy>
  <cp:revision>4</cp:revision>
  <dcterms:created xsi:type="dcterms:W3CDTF">2026-05-03T01:38:36Z</dcterms:created>
  <dcterms:modified xsi:type="dcterms:W3CDTF">2026-05-05T09:47:28Z</dcterms:modified>
</cp:coreProperties>
</file>