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6" r:id="rId11"/>
    <p:sldId id="265" r:id="rId12"/>
    <p:sldId id="269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EF6E2-06EF-4A5A-9F58-288332A104E4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990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B0B0B"/>
                </a:solidFill>
              </a:defRPr>
            </a:pPr>
            <a:r>
              <a:rPr sz="4350" b="1">
                <a:solidFill>
                  <a:srgbClr val="0B0B0B"/>
                </a:solidFill>
              </a:rPr>
              <a:t>Claude Code GitHub 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C8F73-168E-4263-8F6A-DECBA47C9E64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從導入、踩坑到測試流程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A6D67F-8809-443A-9FD9-D2F2ACC31196}"/>
              </a:ext>
            </a:extLst>
          </p:cNvPr>
          <p:cNvSpPr>
            <a:spLocks noGrp="1"/>
          </p:cNvSpPr>
          <p:nvPr/>
        </p:nvSpPr>
        <p:spPr>
          <a:xfrm>
            <a:off x="419100" y="2686050"/>
            <a:ext cx="11334750" cy="20002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29B2F8-16F2-467F-A538-4D20291254D2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這次嘗試的核心問題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385E8-0DF2-4D04-9AD7-2ECF0DEA7344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0B0B0B"/>
                </a:solidFill>
              </a:defRPr>
            </a:pPr>
            <a:r>
              <a:rPr sz="1950" b="0">
                <a:solidFill>
                  <a:srgbClr val="0B0B0B"/>
                </a:solidFill>
              </a:rPr>
              <a:t>如何把 AI coding agent 放進 GitHub issue / PR 流程，同時維持可理解、可控、可逐步擴充的設定。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D7E292-F972-419F-9D39-34F906CC087F}"/>
              </a:ext>
            </a:extLst>
          </p:cNvPr>
          <p:cNvSpPr>
            <a:spLocks noGrp="1"/>
          </p:cNvSpPr>
          <p:nvPr/>
        </p:nvSpPr>
        <p:spPr>
          <a:xfrm>
            <a:off x="457200" y="58102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ModernApp001 / Android 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35374B-9EA7-4D53-BE5B-5A35BF6BEFB7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639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C5D508F-F763-4708-A011-0D20CB4CC176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MODERNAPP001 / AI AGENT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00D529-22FF-48E8-8BBD-782DBC2F638C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1000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B"/>
                </a:solidFill>
              </a:defRPr>
            </a:pPr>
            <a:r>
              <a:rPr sz="3300" b="1">
                <a:solidFill>
                  <a:srgbClr val="0B0B0B"/>
                </a:solidFill>
              </a:rPr>
              <a:t>先做一個可控的 GitHub 入口，而不是一次自動化所有事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57F8B8-4B40-41E0-9466-DE1BE5FCF094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第一版目標是讓 Claude 可以被明確召喚，後續能力再分階段加上去。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D544A-9E42-4BCB-B692-EFC76C8003AF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1133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65685-9B3A-4B67-900E-A755BF9B74F3}"/>
              </a:ext>
            </a:extLst>
          </p:cNvPr>
          <p:cNvSpPr>
            <a:spLocks noGrp="1"/>
          </p:cNvSpPr>
          <p:nvPr/>
        </p:nvSpPr>
        <p:spPr>
          <a:xfrm>
            <a:off x="419100" y="2857500"/>
            <a:ext cx="3429000" cy="2286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E044FD-9428-4455-9209-911A93CDCBE9}"/>
              </a:ext>
            </a:extLst>
          </p:cNvPr>
          <p:cNvSpPr>
            <a:spLocks noGrp="1"/>
          </p:cNvSpPr>
          <p:nvPr/>
        </p:nvSpPr>
        <p:spPr>
          <a:xfrm>
            <a:off x="4381500" y="2857500"/>
            <a:ext cx="3429000" cy="2286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2554D-ED63-403F-9473-FBEE8F8EA08E}"/>
              </a:ext>
            </a:extLst>
          </p:cNvPr>
          <p:cNvSpPr>
            <a:spLocks noGrp="1"/>
          </p:cNvSpPr>
          <p:nvPr/>
        </p:nvSpPr>
        <p:spPr>
          <a:xfrm>
            <a:off x="8343900" y="2857500"/>
            <a:ext cx="3429000" cy="2286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1BA2A9-7B05-49AD-A906-3B8F95A9A9F9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GOAL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1E5D1-82D5-45FB-B6D9-CBF8B5708A1D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0B0B"/>
                </a:solidFill>
              </a:defRPr>
            </a:pPr>
            <a:r>
              <a:rPr sz="2400" b="1">
                <a:solidFill>
                  <a:srgbClr val="0B0B0B"/>
                </a:solidFill>
              </a:rPr>
              <a:t>Issue / PR 裡用 @claude 觸發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F4453B-9D22-446B-8379-D7A0F451B65D}"/>
              </a:ext>
            </a:extLst>
          </p:cNvPr>
          <p:cNvSpPr>
            <a:spLocks noGrp="1"/>
          </p:cNvSpPr>
          <p:nvPr/>
        </p:nvSpPr>
        <p:spPr>
          <a:xfrm>
            <a:off x="4724400" y="31432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CONSTRAINT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CC02A2-66DB-4104-8A4D-E1ADACD5EE72}"/>
              </a:ext>
            </a:extLst>
          </p:cNvPr>
          <p:cNvSpPr>
            <a:spLocks noGrp="1"/>
          </p:cNvSpPr>
          <p:nvPr/>
        </p:nvSpPr>
        <p:spPr>
          <a:xfrm>
            <a:off x="4724400" y="35242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0B0B"/>
                </a:solidFill>
              </a:defRPr>
            </a:pPr>
            <a:r>
              <a:rPr sz="2400" b="1">
                <a:solidFill>
                  <a:srgbClr val="0B0B0B"/>
                </a:solidFill>
              </a:rPr>
              <a:t>先保守，再擴充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68DB7-F815-4BEC-83C4-4F5B09DA2B76}"/>
              </a:ext>
            </a:extLst>
          </p:cNvPr>
          <p:cNvSpPr>
            <a:spLocks noGrp="1"/>
          </p:cNvSpPr>
          <p:nvPr/>
        </p:nvSpPr>
        <p:spPr>
          <a:xfrm>
            <a:off x="4724400" y="41719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不一開始就做自動 review、自動 PR、自動測試生成。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077CB-1CFC-440A-8F84-08CF772EB5F0}"/>
              </a:ext>
            </a:extLst>
          </p:cNvPr>
          <p:cNvSpPr>
            <a:spLocks noGrp="1"/>
          </p:cNvSpPr>
          <p:nvPr/>
        </p:nvSpPr>
        <p:spPr>
          <a:xfrm>
            <a:off x="8686800" y="31432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PRINCIPLE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3DE043-5B79-4879-B71F-A0F43487C2A0}"/>
              </a:ext>
            </a:extLst>
          </p:cNvPr>
          <p:cNvSpPr>
            <a:spLocks noGrp="1"/>
          </p:cNvSpPr>
          <p:nvPr/>
        </p:nvSpPr>
        <p:spPr>
          <a:xfrm>
            <a:off x="8686800" y="3524250"/>
            <a:ext cx="2571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0B0B"/>
                </a:solidFill>
              </a:defRPr>
            </a:pPr>
            <a:r>
              <a:rPr sz="2400" b="1">
                <a:solidFill>
                  <a:srgbClr val="0B0B0B"/>
                </a:solidFill>
              </a:rPr>
              <a:t>設定要能被團隊讀懂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6C25DA-5161-49E9-8CD7-A4B05F6429A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9160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216AB0-9D7B-4AFA-8CA5-48DA52DDE2A5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MODERNAPP001 / AI AGENT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9D2D26-CE58-4093-AF9C-D1C078BD9F8D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1000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B"/>
                </a:solidFill>
              </a:defRPr>
            </a:pPr>
            <a:r>
              <a:rPr sz="3300" b="1">
                <a:solidFill>
                  <a:srgbClr val="0B0B0B"/>
                </a:solidFill>
              </a:rPr>
              <a:t>實際架構是事件觸發，不是聊天機器人常駐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262D2C-6D85-4F97-BB2A-4DC860C42447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GitHub comment 只是入口，真正執行在 GitHub Actions runner。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BF8294-6EE0-48FA-9603-22A717AF21B0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1133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F31177-DC92-416C-B6E9-CA0A585DAFA1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857500" cy="1524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25A081-F58D-416E-AEB8-799BC4224138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0B0B"/>
                </a:solidFill>
              </a:defRPr>
            </a:pPr>
            <a:r>
              <a:rPr sz="1875" b="1">
                <a:solidFill>
                  <a:srgbClr val="0B0B0B"/>
                </a:solidFill>
              </a:rPr>
              <a:t>GitHub issue / PR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F345C6-C888-44A9-BEC8-9FAE4BEE8849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使用者留下 @claude 指令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9FA7F9-4011-4EC8-804B-F82C4B2BB405}"/>
              </a:ext>
            </a:extLst>
          </p:cNvPr>
          <p:cNvSpPr>
            <a:spLocks noGrp="1"/>
          </p:cNvSpPr>
          <p:nvPr/>
        </p:nvSpPr>
        <p:spPr>
          <a:xfrm>
            <a:off x="3810000" y="3676650"/>
            <a:ext cx="419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7B8E6-6CFE-4344-8912-5BB34143BFE0}"/>
              </a:ext>
            </a:extLst>
          </p:cNvPr>
          <p:cNvSpPr>
            <a:spLocks noGrp="1"/>
          </p:cNvSpPr>
          <p:nvPr/>
        </p:nvSpPr>
        <p:spPr>
          <a:xfrm>
            <a:off x="4448175" y="3162300"/>
            <a:ext cx="2857500" cy="1524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22B6B1-BC24-40A2-9706-EA7596536240}"/>
              </a:ext>
            </a:extLst>
          </p:cNvPr>
          <p:cNvSpPr>
            <a:spLocks noGrp="1"/>
          </p:cNvSpPr>
          <p:nvPr/>
        </p:nvSpPr>
        <p:spPr>
          <a:xfrm>
            <a:off x="4714875" y="34290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0B0B"/>
                </a:solidFill>
              </a:defRPr>
            </a:pPr>
            <a:r>
              <a:rPr sz="1875" b="1">
                <a:solidFill>
                  <a:srgbClr val="0B0B0B"/>
                </a:solidFill>
              </a:rPr>
              <a:t>Claude Code 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748D63-DB42-4021-907F-8DB1F53779C9}"/>
              </a:ext>
            </a:extLst>
          </p:cNvPr>
          <p:cNvSpPr>
            <a:spLocks noGrp="1"/>
          </p:cNvSpPr>
          <p:nvPr/>
        </p:nvSpPr>
        <p:spPr>
          <a:xfrm>
            <a:off x="4714875" y="39052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檢查作者身分、事件與權限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D9A76-E748-4EFD-BA4D-CB11EEADCE24}"/>
              </a:ext>
            </a:extLst>
          </p:cNvPr>
          <p:cNvSpPr>
            <a:spLocks noGrp="1"/>
          </p:cNvSpPr>
          <p:nvPr/>
        </p:nvSpPr>
        <p:spPr>
          <a:xfrm>
            <a:off x="7572375" y="3676650"/>
            <a:ext cx="419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34125D-8728-4778-84F4-76C1B4CE9997}"/>
              </a:ext>
            </a:extLst>
          </p:cNvPr>
          <p:cNvSpPr>
            <a:spLocks noGrp="1"/>
          </p:cNvSpPr>
          <p:nvPr/>
        </p:nvSpPr>
        <p:spPr>
          <a:xfrm>
            <a:off x="8210550" y="3162300"/>
            <a:ext cx="2857500" cy="1524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8DECF0-2CE2-415B-9BFC-13B451A7C065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0B0B"/>
                </a:solidFill>
              </a:defRPr>
            </a:pPr>
            <a:r>
              <a:rPr sz="1875" b="1">
                <a:solidFill>
                  <a:srgbClr val="0B0B0B"/>
                </a:solidFill>
              </a:rPr>
              <a:t>Claude 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3077E5-5D04-4440-9633-36EEADD5D9C8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讀 repo、建立 branch、留言結果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C0E56B-71BF-4F11-B55E-1BC8A597986B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這讓團隊可以把安全邏輯放在 workflow，而不是寄望每個 prompt 都寫得完美。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89F7CA-99EA-44E7-BC6B-BAE6E5B5750E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4704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72819FE-AC7F-44A7-B1C1-6BB5E7A03BD6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MODERNAPP001 / AI AGENT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0BDF03-C754-4E1A-826A-5E03B5DC274D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1000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B"/>
                </a:solidFill>
              </a:defRPr>
            </a:pPr>
            <a:r>
              <a:rPr sz="3300" b="1">
                <a:solidFill>
                  <a:srgbClr val="0B0B0B"/>
                </a:solidFill>
              </a:rPr>
              <a:t>第一版只新增兩個檔案，降低理解成本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D8BB67-2390-4903-BE3C-987506FDA880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重複的 Android 操作細節留在 AGENTS.md，Claude 只讀入口指引。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8A8FAD-B274-4AB0-8A2B-6B3FA3C2BB36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1133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0120E-9A5B-4F8B-BC58-97121BDB07B8}"/>
              </a:ext>
            </a:extLst>
          </p:cNvPr>
          <p:cNvSpPr>
            <a:spLocks noGrp="1"/>
          </p:cNvSpPr>
          <p:nvPr/>
        </p:nvSpPr>
        <p:spPr>
          <a:xfrm>
            <a:off x="647700" y="2990850"/>
            <a:ext cx="4857750" cy="20002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99F6F2-12E3-42D9-86CF-DB8175057203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0B0B"/>
                </a:solidFill>
              </a:defRPr>
            </a:pPr>
            <a:r>
              <a:rPr sz="2550" b="1">
                <a:solidFill>
                  <a:srgbClr val="0B0B0B"/>
                </a:solidFill>
              </a:rPr>
              <a:t>CLAUDE.md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E427F4-E1AF-4521-B7F5-3AAD2A868B3F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0E43E-6297-4BFC-B63A-C9EDDD2397D2}"/>
              </a:ext>
            </a:extLst>
          </p:cNvPr>
          <p:cNvSpPr>
            <a:spLocks noGrp="1"/>
          </p:cNvSpPr>
          <p:nvPr/>
        </p:nvSpPr>
        <p:spPr>
          <a:xfrm>
            <a:off x="1219200" y="3905250"/>
            <a:ext cx="3638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要求先讀 AGENTS.md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1AD1ED-2179-42B7-9C31-3C2E12B5764E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E1571C-BF39-499E-A8CE-08EF7BB6DF1B}"/>
              </a:ext>
            </a:extLst>
          </p:cNvPr>
          <p:cNvSpPr>
            <a:spLocks noGrp="1"/>
          </p:cNvSpPr>
          <p:nvPr/>
        </p:nvSpPr>
        <p:spPr>
          <a:xfrm>
            <a:off x="1219200" y="4248150"/>
            <a:ext cx="3638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保留 repo-specific 貢獻規則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59AF98-950A-445F-8701-699E4ECC3C18}"/>
              </a:ext>
            </a:extLst>
          </p:cNvPr>
          <p:cNvSpPr>
            <a:spLocks noGrp="1"/>
          </p:cNvSpPr>
          <p:nvPr/>
        </p:nvSpPr>
        <p:spPr>
          <a:xfrm>
            <a:off x="952500" y="46863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94A2BA-BE54-4AF5-99E5-31BA9E9F83B9}"/>
              </a:ext>
            </a:extLst>
          </p:cNvPr>
          <p:cNvSpPr>
            <a:spLocks noGrp="1"/>
          </p:cNvSpPr>
          <p:nvPr/>
        </p:nvSpPr>
        <p:spPr>
          <a:xfrm>
            <a:off x="1219200" y="4591050"/>
            <a:ext cx="3638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避免重複維護 build / emulator 指令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8C996A-B75F-4E28-94B5-38629E805179}"/>
              </a:ext>
            </a:extLst>
          </p:cNvPr>
          <p:cNvSpPr>
            <a:spLocks noGrp="1"/>
          </p:cNvSpPr>
          <p:nvPr/>
        </p:nvSpPr>
        <p:spPr>
          <a:xfrm>
            <a:off x="6705600" y="2990850"/>
            <a:ext cx="4857750" cy="20002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4C2EB-1F0A-4BDF-815B-0E7ABF01BC3E}"/>
              </a:ext>
            </a:extLst>
          </p:cNvPr>
          <p:cNvSpPr>
            <a:spLocks noGrp="1"/>
          </p:cNvSpPr>
          <p:nvPr/>
        </p:nvSpPr>
        <p:spPr>
          <a:xfrm>
            <a:off x="6972300" y="32766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0B0B"/>
                </a:solidFill>
              </a:defRPr>
            </a:pPr>
            <a:r>
              <a:rPr sz="2550" b="1">
                <a:solidFill>
                  <a:srgbClr val="0B0B0B"/>
                </a:solidFill>
              </a:rPr>
              <a:t>claude.yml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BE511-8D2C-4141-8697-5BFC2BA41E28}"/>
              </a:ext>
            </a:extLst>
          </p:cNvPr>
          <p:cNvSpPr>
            <a:spLocks noGrp="1"/>
          </p:cNvSpPr>
          <p:nvPr/>
        </p:nvSpPr>
        <p:spPr>
          <a:xfrm>
            <a:off x="7010400" y="40005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3312F2-A749-449A-AE6A-DB5BC4FEB938}"/>
              </a:ext>
            </a:extLst>
          </p:cNvPr>
          <p:cNvSpPr>
            <a:spLocks noGrp="1"/>
          </p:cNvSpPr>
          <p:nvPr/>
        </p:nvSpPr>
        <p:spPr>
          <a:xfrm>
            <a:off x="7277100" y="3905250"/>
            <a:ext cx="3733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使用 Claude Code Action v1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524C35-F224-4138-9C29-91DC45FF2C03}"/>
              </a:ext>
            </a:extLst>
          </p:cNvPr>
          <p:cNvSpPr>
            <a:spLocks noGrp="1"/>
          </p:cNvSpPr>
          <p:nvPr/>
        </p:nvSpPr>
        <p:spPr>
          <a:xfrm>
            <a:off x="7010400" y="43434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F7D23F-316E-44D3-9C11-25C0A647DFDD}"/>
              </a:ext>
            </a:extLst>
          </p:cNvPr>
          <p:cNvSpPr>
            <a:spLocks noGrp="1"/>
          </p:cNvSpPr>
          <p:nvPr/>
        </p:nvSpPr>
        <p:spPr>
          <a:xfrm>
            <a:off x="7277100" y="4248150"/>
            <a:ext cx="3733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OAuth secret 放在 GitHub Secrets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8884F-33B2-4FBC-951E-E1AA6D777CDD}"/>
              </a:ext>
            </a:extLst>
          </p:cNvPr>
          <p:cNvSpPr>
            <a:spLocks noGrp="1"/>
          </p:cNvSpPr>
          <p:nvPr/>
        </p:nvSpPr>
        <p:spPr>
          <a:xfrm>
            <a:off x="7010400" y="46863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01E52-979A-4B04-853A-30AE825A3462}"/>
              </a:ext>
            </a:extLst>
          </p:cNvPr>
          <p:cNvSpPr>
            <a:spLocks noGrp="1"/>
          </p:cNvSpPr>
          <p:nvPr/>
        </p:nvSpPr>
        <p:spPr>
          <a:xfrm>
            <a:off x="7277100" y="4591050"/>
            <a:ext cx="3733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只在可信作者提到 @claude 時執行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E2EDA9-7850-4BD0-AB63-1FD9DAFEAB57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31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CE3EEF4-687B-4A85-AEDD-421A877ACE59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MODERNAPP001 / AI AGENT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921A08-4E46-4503-84B4-441A5382B421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1000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B"/>
                </a:solidFill>
              </a:defRPr>
            </a:pPr>
            <a:r>
              <a:rPr sz="3300" b="1">
                <a:solidFill>
                  <a:srgbClr val="0B0B0B"/>
                </a:solidFill>
              </a:rPr>
              <a:t>安全設定是這次導入最重要的設計面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515BE1-E348-40D0-BF94-8307BBEC724A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Copilot review 幫忙抓到風險，但實際測試也修正了其中一個假設。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C153B2-7A53-4781-AA21-15241E7F032B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1133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A6912-14FD-4630-B36A-0F77E2F4F422}"/>
              </a:ext>
            </a:extLst>
          </p:cNvPr>
          <p:cNvSpPr>
            <a:spLocks noGrp="1"/>
          </p:cNvSpPr>
          <p:nvPr/>
        </p:nvSpPr>
        <p:spPr>
          <a:xfrm>
            <a:off x="647700" y="2914650"/>
            <a:ext cx="10858500" cy="6286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0977A-4559-43FB-BB63-69BC077B20E4}"/>
              </a:ext>
            </a:extLst>
          </p:cNvPr>
          <p:cNvSpPr>
            <a:spLocks noGrp="1"/>
          </p:cNvSpPr>
          <p:nvPr/>
        </p:nvSpPr>
        <p:spPr>
          <a:xfrm>
            <a:off x="876300" y="30765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作者 gate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BDFDF-20B7-40F7-9201-B31DACC20FC4}"/>
              </a:ext>
            </a:extLst>
          </p:cNvPr>
          <p:cNvSpPr>
            <a:spLocks noGrp="1"/>
          </p:cNvSpPr>
          <p:nvPr/>
        </p:nvSpPr>
        <p:spPr>
          <a:xfrm>
            <a:off x="3124200" y="307657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只允許 OWNER / MEMBER / COLLABORATOR 觸發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F09550-5C8A-4380-AFE8-BC7C952588F3}"/>
              </a:ext>
            </a:extLst>
          </p:cNvPr>
          <p:cNvSpPr>
            <a:spLocks noGrp="1"/>
          </p:cNvSpPr>
          <p:nvPr/>
        </p:nvSpPr>
        <p:spPr>
          <a:xfrm>
            <a:off x="7315200" y="30765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避免外部留言用 write token 觸發 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BA0C86-CB2B-4518-88D5-FA8792559146}"/>
              </a:ext>
            </a:extLst>
          </p:cNvPr>
          <p:cNvSpPr>
            <a:spLocks noGrp="1"/>
          </p:cNvSpPr>
          <p:nvPr/>
        </p:nvSpPr>
        <p:spPr>
          <a:xfrm>
            <a:off x="647700" y="3600450"/>
            <a:ext cx="10858500" cy="628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EEB49E-31E0-446C-9BE0-B4C376E20FDB}"/>
              </a:ext>
            </a:extLst>
          </p:cNvPr>
          <p:cNvSpPr>
            <a:spLocks noGrp="1"/>
          </p:cNvSpPr>
          <p:nvPr/>
        </p:nvSpPr>
        <p:spPr>
          <a:xfrm>
            <a:off x="876300" y="37623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id-token: write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79FB1C-1E73-4D10-ADA7-03C2418F101A}"/>
              </a:ext>
            </a:extLst>
          </p:cNvPr>
          <p:cNvSpPr>
            <a:spLocks noGrp="1"/>
          </p:cNvSpPr>
          <p:nvPr/>
        </p:nvSpPr>
        <p:spPr>
          <a:xfrm>
            <a:off x="3124200" y="376237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需要保留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CFD409-43A6-4F51-B7B9-8B48FEAE5666}"/>
              </a:ext>
            </a:extLst>
          </p:cNvPr>
          <p:cNvSpPr>
            <a:spLocks noGrp="1"/>
          </p:cNvSpPr>
          <p:nvPr/>
        </p:nvSpPr>
        <p:spPr>
          <a:xfrm>
            <a:off x="7315200" y="37623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Claude GitHub App auth path 會 request OIDC token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49AC97-DCE3-4E6E-9C09-FFC9E6675CD9}"/>
              </a:ext>
            </a:extLst>
          </p:cNvPr>
          <p:cNvSpPr>
            <a:spLocks noGrp="1"/>
          </p:cNvSpPr>
          <p:nvPr/>
        </p:nvSpPr>
        <p:spPr>
          <a:xfrm>
            <a:off x="647700" y="4286250"/>
            <a:ext cx="10858500" cy="6286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4EAB3-9876-46E7-9AED-0460172791F8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concurrency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B10FB8-5B9C-4466-8058-654B053315E7}"/>
              </a:ext>
            </a:extLst>
          </p:cNvPr>
          <p:cNvSpPr>
            <a:spLocks noGrp="1"/>
          </p:cNvSpPr>
          <p:nvPr/>
        </p:nvSpPr>
        <p:spPr>
          <a:xfrm>
            <a:off x="3124200" y="444817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同一 issue / PR 序列化執行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3B140A-4266-4916-82E3-AF665237AFF3}"/>
              </a:ext>
            </a:extLst>
          </p:cNvPr>
          <p:cNvSpPr>
            <a:spLocks noGrp="1"/>
          </p:cNvSpPr>
          <p:nvPr/>
        </p:nvSpPr>
        <p:spPr>
          <a:xfrm>
            <a:off x="7315200" y="44481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避免多個 Claude run 互相搶 push 或更新 PR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67C8F0-7EAD-456B-886A-FA445DDA88EF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10858500" cy="628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6E0FE1-2FFF-441A-BC08-56271F1E5E31}"/>
              </a:ext>
            </a:extLst>
          </p:cNvPr>
          <p:cNvSpPr>
            <a:spLocks noGrp="1"/>
          </p:cNvSpPr>
          <p:nvPr/>
        </p:nvSpPr>
        <p:spPr>
          <a:xfrm>
            <a:off x="876300" y="51339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Action pinning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0F714C-7E89-4174-8B68-999F826BDA0D}"/>
              </a:ext>
            </a:extLst>
          </p:cNvPr>
          <p:cNvSpPr>
            <a:spLocks noGrp="1"/>
          </p:cNvSpPr>
          <p:nvPr/>
        </p:nvSpPr>
        <p:spPr>
          <a:xfrm>
            <a:off x="3124200" y="513397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暫不改成 SHA pin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106C85-6AFB-4618-A95A-9D8944445581}"/>
              </a:ext>
            </a:extLst>
          </p:cNvPr>
          <p:cNvSpPr>
            <a:spLocks noGrp="1"/>
          </p:cNvSpPr>
          <p:nvPr/>
        </p:nvSpPr>
        <p:spPr>
          <a:xfrm>
            <a:off x="7315200" y="51339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保留常見 major tag 維護模式，日後可另開 hardening PR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0C0A65-3BAF-4D31-BE91-88927F59CE1A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7242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9C1893C-9367-4888-8BE6-EA27D6616F5C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MODERNAPP001 / AI AGENT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4E5478-D89F-4EB3-92E5-4453168B8E61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1000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B"/>
                </a:solidFill>
              </a:defRPr>
            </a:pPr>
            <a:r>
              <a:rPr sz="3300" b="1">
                <a:solidFill>
                  <a:srgbClr val="0B0B0B"/>
                </a:solidFill>
              </a:rPr>
              <a:t>踩坑都發生在產品邊界，而不是 YAML 語法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67D28-42DE-4204-83A3-91AFC48D5E0A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Action 本身會跑，但 GitHub UI、App auth、PR 行為需要實測才看得清楚。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41F36C-37EC-4D0D-AF4E-065045C68B92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1133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9C8F0-7BC3-4E79-BA51-E815AC43833B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625199-214B-41DF-95D6-3883AD5E3338}"/>
              </a:ext>
            </a:extLst>
          </p:cNvPr>
          <p:cNvSpPr>
            <a:spLocks noGrp="1"/>
          </p:cNvSpPr>
          <p:nvPr/>
        </p:nvSpPr>
        <p:spPr>
          <a:xfrm>
            <a:off x="1276350" y="295275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OAuth 仍需要 OIDC 權限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2160DA-F590-4CEC-AD34-6A8551C92B42}"/>
              </a:ext>
            </a:extLst>
          </p:cNvPr>
          <p:cNvSpPr>
            <a:spLocks noGrp="1"/>
          </p:cNvSpPr>
          <p:nvPr/>
        </p:nvSpPr>
        <p:spPr>
          <a:xfrm>
            <a:off x="1276350" y="3333750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第一次 issue test 失敗，log 顯示 action 需要 GitHub OIDC token。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38F82-F50B-4AD5-BF08-46F273D09975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FAFEBD-384D-4865-AF59-ED63A644ABFD}"/>
              </a:ext>
            </a:extLst>
          </p:cNvPr>
          <p:cNvSpPr>
            <a:spLocks noGrp="1"/>
          </p:cNvSpPr>
          <p:nvPr/>
        </p:nvSpPr>
        <p:spPr>
          <a:xfrm>
            <a:off x="1276350" y="413385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@claude 不會 autocomplete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9E227-8C56-44E9-A61C-FED8E69A35FB}"/>
              </a:ext>
            </a:extLst>
          </p:cNvPr>
          <p:cNvSpPr>
            <a:spLocks noGrp="1"/>
          </p:cNvSpPr>
          <p:nvPr/>
        </p:nvSpPr>
        <p:spPr>
          <a:xfrm>
            <a:off x="1276350" y="4514850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它是 trigger phrase，不是 GitHub collaborator mention。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60CBC9-8021-4FFB-872E-E65F5DB127D7}"/>
              </a:ext>
            </a:extLst>
          </p:cNvPr>
          <p:cNvSpPr>
            <a:spLocks noGrp="1"/>
          </p:cNvSpPr>
          <p:nvPr/>
        </p:nvSpPr>
        <p:spPr>
          <a:xfrm>
            <a:off x="6496050" y="29337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201E86-DC91-4723-AA9D-D8542D89F638}"/>
              </a:ext>
            </a:extLst>
          </p:cNvPr>
          <p:cNvSpPr>
            <a:spLocks noGrp="1"/>
          </p:cNvSpPr>
          <p:nvPr/>
        </p:nvSpPr>
        <p:spPr>
          <a:xfrm>
            <a:off x="7086600" y="295275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Issue implementation 不會自動開 PR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9F677C-CA78-4599-80E8-F848D9C5B3CD}"/>
              </a:ext>
            </a:extLst>
          </p:cNvPr>
          <p:cNvSpPr>
            <a:spLocks noGrp="1"/>
          </p:cNvSpPr>
          <p:nvPr/>
        </p:nvSpPr>
        <p:spPr>
          <a:xfrm>
            <a:off x="7086600" y="3333750"/>
            <a:ext cx="436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Claude 建 branch 並留言 Create PR link；自動 PR 需要額外 gh pr create step。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73B7AA-8864-48AB-BFEC-003656CB5C39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6D9D63-7F35-459B-B9E5-251A48F21120}"/>
              </a:ext>
            </a:extLst>
          </p:cNvPr>
          <p:cNvSpPr>
            <a:spLocks noGrp="1"/>
          </p:cNvSpPr>
          <p:nvPr/>
        </p:nvSpPr>
        <p:spPr>
          <a:xfrm>
            <a:off x="7086600" y="413385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Bot 自己留言會再次觸發事件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E50AFB-2C1A-4103-9C3A-36A72870A183}"/>
              </a:ext>
            </a:extLst>
          </p:cNvPr>
          <p:cNvSpPr>
            <a:spLocks noGrp="1"/>
          </p:cNvSpPr>
          <p:nvPr/>
        </p:nvSpPr>
        <p:spPr>
          <a:xfrm>
            <a:off x="7086600" y="4514850"/>
            <a:ext cx="436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後續 issue_comment run 被 gate 跳過，這是預期的安全行為。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C3693-7EA9-4552-8FC3-2B7675478B5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3998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D5B483A-E392-4F90-9013-FDA0858550E4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MODERNAPP001 / AI AGENT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85C7D-F795-411E-A447-7991DEE19BD0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1000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B"/>
                </a:solidFill>
              </a:defRPr>
            </a:pPr>
            <a:r>
              <a:rPr sz="3300" b="1">
                <a:solidFill>
                  <a:srgbClr val="0B0B0B"/>
                </a:solidFill>
              </a:rPr>
              <a:t>測試應該像階梯，不要一開始就測最大自動化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3A8235-3C4B-417F-AE0C-D67C63DF2879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每一步只驗證一種能力，失敗時才知道是哪一層出問題。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062946-2DFF-4268-9182-C2335B1CE10C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1133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7F7EE-E06F-4307-B3FC-8113EE0674B6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502606-26AD-48E2-AB85-27751CA7C68C}"/>
              </a:ext>
            </a:extLst>
          </p:cNvPr>
          <p:cNvSpPr>
            <a:spLocks noGrp="1"/>
          </p:cNvSpPr>
          <p:nvPr/>
        </p:nvSpPr>
        <p:spPr>
          <a:xfrm>
            <a:off x="1238250" y="2971800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Issue summarize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72017F-6DFF-4A1B-8C09-F6BC0D3A2A37}"/>
              </a:ext>
            </a:extLst>
          </p:cNvPr>
          <p:cNvSpPr>
            <a:spLocks noGrp="1"/>
          </p:cNvSpPr>
          <p:nvPr/>
        </p:nvSpPr>
        <p:spPr>
          <a:xfrm>
            <a:off x="1238250" y="33718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驗證 App、secret、workflow trigger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302AE5-F6FF-409E-B402-C9A551237255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03892F-94B9-4308-85A9-2FC33BCDEB11}"/>
              </a:ext>
            </a:extLst>
          </p:cNvPr>
          <p:cNvSpPr>
            <a:spLocks noGrp="1"/>
          </p:cNvSpPr>
          <p:nvPr/>
        </p:nvSpPr>
        <p:spPr>
          <a:xfrm>
            <a:off x="4953000" y="2971800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Issue-driven branch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4140F0-313A-41EA-826A-455678324AF9}"/>
              </a:ext>
            </a:extLst>
          </p:cNvPr>
          <p:cNvSpPr>
            <a:spLocks noGrp="1"/>
          </p:cNvSpPr>
          <p:nvPr/>
        </p:nvSpPr>
        <p:spPr>
          <a:xfrm>
            <a:off x="4953000" y="33718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驗證 Claude 能讀 repo、commit、push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1E0B0A-7994-4AD7-A780-2CB2E079C014}"/>
              </a:ext>
            </a:extLst>
          </p:cNvPr>
          <p:cNvSpPr>
            <a:spLocks noGrp="1"/>
          </p:cNvSpPr>
          <p:nvPr/>
        </p:nvSpPr>
        <p:spPr>
          <a:xfrm>
            <a:off x="8115300" y="295275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968A3-957E-4A84-9686-0AE637D2D238}"/>
              </a:ext>
            </a:extLst>
          </p:cNvPr>
          <p:cNvSpPr>
            <a:spLocks noGrp="1"/>
          </p:cNvSpPr>
          <p:nvPr/>
        </p:nvSpPr>
        <p:spPr>
          <a:xfrm>
            <a:off x="8667750" y="2971800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Manual PR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085CB-5D1A-4407-B46B-E8F77075CE7E}"/>
              </a:ext>
            </a:extLst>
          </p:cNvPr>
          <p:cNvSpPr>
            <a:spLocks noGrp="1"/>
          </p:cNvSpPr>
          <p:nvPr/>
        </p:nvSpPr>
        <p:spPr>
          <a:xfrm>
            <a:off x="8667750" y="33718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人先檢查 branch 品質，再開 PR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270F5A-0BF4-4753-86B9-209B60596BD5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751B2D-1900-4A33-8AF0-46B8E2A9A7C4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PR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79815-250D-496E-9409-3365C37C05B9}"/>
              </a:ext>
            </a:extLst>
          </p:cNvPr>
          <p:cNvSpPr>
            <a:spLocks noGrp="1"/>
          </p:cNvSpPr>
          <p:nvPr/>
        </p:nvSpPr>
        <p:spPr>
          <a:xfrm>
            <a:off x="1238250" y="48006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測 @claude review this PR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47ED23-A5EE-49EA-8A5F-D7ECE8401036}"/>
              </a:ext>
            </a:extLst>
          </p:cNvPr>
          <p:cNvSpPr>
            <a:spLocks noGrp="1"/>
          </p:cNvSpPr>
          <p:nvPr/>
        </p:nvSpPr>
        <p:spPr>
          <a:xfrm>
            <a:off x="4400550" y="438150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11D25D-8521-443D-B7C2-245A9A678FE9}"/>
              </a:ext>
            </a:extLst>
          </p:cNvPr>
          <p:cNvSpPr>
            <a:spLocks noGrp="1"/>
          </p:cNvSpPr>
          <p:nvPr/>
        </p:nvSpPr>
        <p:spPr>
          <a:xfrm>
            <a:off x="4953000" y="4400550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@claude fix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26CE6A-48EA-4924-B0B3-95650EAF57D6}"/>
              </a:ext>
            </a:extLst>
          </p:cNvPr>
          <p:cNvSpPr>
            <a:spLocks noGrp="1"/>
          </p:cNvSpPr>
          <p:nvPr/>
        </p:nvSpPr>
        <p:spPr>
          <a:xfrm>
            <a:off x="4953000" y="48006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測在既有 PR branch 上修正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ECFE88-0053-4871-A4F1-B6F0E1932688}"/>
              </a:ext>
            </a:extLst>
          </p:cNvPr>
          <p:cNvSpPr>
            <a:spLocks noGrp="1"/>
          </p:cNvSpPr>
          <p:nvPr/>
        </p:nvSpPr>
        <p:spPr>
          <a:xfrm>
            <a:off x="8115300" y="438150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C8F56E-675F-4E9A-9387-483F9D923DDE}"/>
              </a:ext>
            </a:extLst>
          </p:cNvPr>
          <p:cNvSpPr>
            <a:spLocks noGrp="1"/>
          </p:cNvSpPr>
          <p:nvPr/>
        </p:nvSpPr>
        <p:spPr>
          <a:xfrm>
            <a:off x="8667750" y="4400550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Tests / docs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0843BF-BC43-4A64-B537-C1017DC43430}"/>
              </a:ext>
            </a:extLst>
          </p:cNvPr>
          <p:cNvSpPr>
            <a:spLocks noGrp="1"/>
          </p:cNvSpPr>
          <p:nvPr/>
        </p:nvSpPr>
        <p:spPr>
          <a:xfrm>
            <a:off x="8667750" y="48006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再測 unit test 或文件更新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95ACD1-958C-4C3C-8213-C7489C765740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655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0FC65-149F-73AA-3083-0F5D532A6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95" y="755935"/>
            <a:ext cx="11279410" cy="534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1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12BD12-8C4F-55D9-494A-048869BF6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790" y="0"/>
            <a:ext cx="70124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0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451CE8-15A8-3BC3-9FF1-B06AC1E61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086" y="969750"/>
            <a:ext cx="9201827" cy="55491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17474F-815E-BA56-20EA-7CB436DED10A}"/>
              </a:ext>
            </a:extLst>
          </p:cNvPr>
          <p:cNvSpPr txBox="1"/>
          <p:nvPr/>
        </p:nvSpPr>
        <p:spPr>
          <a:xfrm>
            <a:off x="1495086" y="478897"/>
            <a:ext cx="2151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 </a:t>
            </a:r>
            <a:r>
              <a:rPr lang="en-US" dirty="0" err="1"/>
              <a:t>claude</a:t>
            </a:r>
            <a:r>
              <a:rPr lang="en-US" dirty="0"/>
              <a:t> setup-token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13341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92790-6F31-A73C-3047-D33930BA1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47" y="218518"/>
            <a:ext cx="10082505" cy="642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4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E80F04-A480-43C6-D744-56B8674D6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400" y="262802"/>
            <a:ext cx="9215200" cy="633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3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87D120F-0FB2-4159-BA03-FF2A1FFD0417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MODERNAPP001 / AI AGENT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307416-843E-4EAF-ABF2-69B64CCDE3E9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1000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B"/>
                </a:solidFill>
              </a:defRPr>
            </a:pPr>
            <a:r>
              <a:rPr sz="3300" b="1">
                <a:solidFill>
                  <a:srgbClr val="0B0B0B"/>
                </a:solidFill>
              </a:rPr>
              <a:t>目前結果支持保守擴充的策略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C579B-C6E0-4F7B-AA70-89F33595B30B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Claude 已能完成 branch-based implementation；自動 PR 先不急。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9819BC-B576-4DD1-88E9-27C7D6BD338F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1133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AE369-6C00-4424-9063-9C9EAE065DAF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9246D-DFE1-415E-9AFF-904A632F2872}"/>
              </a:ext>
            </a:extLst>
          </p:cNvPr>
          <p:cNvSpPr>
            <a:spLocks noGrp="1"/>
          </p:cNvSpPr>
          <p:nvPr/>
        </p:nvSpPr>
        <p:spPr>
          <a:xfrm>
            <a:off x="742950" y="28956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Basic @claude 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B8052-9020-4FF9-952F-8EA588660511}"/>
              </a:ext>
            </a:extLst>
          </p:cNvPr>
          <p:cNvSpPr>
            <a:spLocks noGrp="1"/>
          </p:cNvSpPr>
          <p:nvPr/>
        </p:nvSpPr>
        <p:spPr>
          <a:xfrm>
            <a:off x="4838700" y="28956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成功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1E7A50-5557-4B2D-A4D1-E8CCF618C9E0}"/>
              </a:ext>
            </a:extLst>
          </p:cNvPr>
          <p:cNvSpPr>
            <a:spLocks noGrp="1"/>
          </p:cNvSpPr>
          <p:nvPr/>
        </p:nvSpPr>
        <p:spPr>
          <a:xfrm>
            <a:off x="6838950" y="29146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id-token 修正後通過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33C151-B72B-4142-B232-29B2723FE903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570A27-77F9-421C-AB60-AA2FD8089534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Issue-driven implementation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A4F8E2-DAA1-4D51-869E-09FC40D66B33}"/>
              </a:ext>
            </a:extLst>
          </p:cNvPr>
          <p:cNvSpPr>
            <a:spLocks noGrp="1"/>
          </p:cNvSpPr>
          <p:nvPr/>
        </p:nvSpPr>
        <p:spPr>
          <a:xfrm>
            <a:off x="4838700" y="36385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成功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34F2B7-5678-401D-8578-90B349784E1B}"/>
              </a:ext>
            </a:extLst>
          </p:cNvPr>
          <p:cNvSpPr>
            <a:spLocks noGrp="1"/>
          </p:cNvSpPr>
          <p:nvPr/>
        </p:nvSpPr>
        <p:spPr>
          <a:xfrm>
            <a:off x="6838950" y="36576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建立 claude/issue-76 branch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A4154C-86B0-4F6A-9B5F-C0DE19C37F12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1A64D8-0C42-4805-9808-B03EF0EEC743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Automatic PR creation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BFD818-CE6A-41FB-BDCF-13C3446AA951}"/>
              </a:ext>
            </a:extLst>
          </p:cNvPr>
          <p:cNvSpPr>
            <a:spLocks noGrp="1"/>
          </p:cNvSpPr>
          <p:nvPr/>
        </p:nvSpPr>
        <p:spPr>
          <a:xfrm>
            <a:off x="4838700" y="4381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保留手動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D6C01C-30C3-493B-BD77-0C0A530A78D6}"/>
              </a:ext>
            </a:extLst>
          </p:cNvPr>
          <p:cNvSpPr>
            <a:spLocks noGrp="1"/>
          </p:cNvSpPr>
          <p:nvPr/>
        </p:nvSpPr>
        <p:spPr>
          <a:xfrm>
            <a:off x="6838950" y="44005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目前只提供 Create PR link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566C4C-9A8D-4B54-AE9A-D39B82652276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29DE9D-838D-4902-8980-1D40672549C3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PR code review / fix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54186A-C043-4D98-A265-C5679724037B}"/>
              </a:ext>
            </a:extLst>
          </p:cNvPr>
          <p:cNvSpPr>
            <a:spLocks noGrp="1"/>
          </p:cNvSpPr>
          <p:nvPr/>
        </p:nvSpPr>
        <p:spPr>
          <a:xfrm>
            <a:off x="4838700" y="51244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下一步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63872B-9F65-46E6-8B1B-72D38343DF82}"/>
              </a:ext>
            </a:extLst>
          </p:cNvPr>
          <p:cNvSpPr>
            <a:spLocks noGrp="1"/>
          </p:cNvSpPr>
          <p:nvPr/>
        </p:nvSpPr>
        <p:spPr>
          <a:xfrm>
            <a:off x="6838950" y="51435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用手動 PR 逐步測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7274A4-6CEE-41B9-A161-72A6558A1339}"/>
              </a:ext>
            </a:extLst>
          </p:cNvPr>
          <p:cNvSpPr>
            <a:spLocks noGrp="1"/>
          </p:cNvSpPr>
          <p:nvPr/>
        </p:nvSpPr>
        <p:spPr>
          <a:xfrm>
            <a:off x="742950" y="57531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149BCA-6430-4181-95BE-09C58ED2E54D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7220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7B1EA0E-FA68-4754-B02D-B25DBEC5EEC9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MODERNAPP001 / AI AGENT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64FBC0-79B4-47A2-A4A0-CEAAE2ED07DC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1000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B"/>
                </a:solidFill>
              </a:defRPr>
            </a:pPr>
            <a:r>
              <a:rPr sz="3300" b="1">
                <a:solidFill>
                  <a:srgbClr val="0B0B0B"/>
                </a:solidFill>
              </a:rPr>
              <a:t>下一步是把穩定流程沉澱成團隊習慣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E9E506-BA18-4C09-9971-0948CC04FE76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不是追求全自動，而是讓每個自動化都有清楚責任邊界。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FEAAF0-2386-4C09-B40A-65B67DF1EE73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1133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4322E-FBE0-444C-B4E2-73AB0B9B389C}"/>
              </a:ext>
            </a:extLst>
          </p:cNvPr>
          <p:cNvSpPr>
            <a:spLocks noGrp="1"/>
          </p:cNvSpPr>
          <p:nvPr/>
        </p:nvSpPr>
        <p:spPr>
          <a:xfrm>
            <a:off x="571500" y="2914650"/>
            <a:ext cx="3333750" cy="21907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68C6BE-D964-4C75-B9CE-B7398040C3D8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短期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523869-E1AD-493D-8216-17056A7E474F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319B1E-8624-4EFF-8CD0-1DFD927231FC}"/>
              </a:ext>
            </a:extLst>
          </p:cNvPr>
          <p:cNvSpPr>
            <a:spLocks noGrp="1"/>
          </p:cNvSpPr>
          <p:nvPr/>
        </p:nvSpPr>
        <p:spPr>
          <a:xfrm>
            <a:off x="1181100" y="377190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用手動 Create PR link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B018F-8949-4DAB-83F5-78FCE20DE1BD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2C91D4-B08E-4C00-BBF4-49F182A1EB0F}"/>
              </a:ext>
            </a:extLst>
          </p:cNvPr>
          <p:cNvSpPr>
            <a:spLocks noGrp="1"/>
          </p:cNvSpPr>
          <p:nvPr/>
        </p:nvSpPr>
        <p:spPr>
          <a:xfrm>
            <a:off x="1181100" y="40957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測 PR review 與 @claude fix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1B0E5-D560-490E-808E-79DDA1AD9DB6}"/>
              </a:ext>
            </a:extLst>
          </p:cNvPr>
          <p:cNvSpPr>
            <a:spLocks noGrp="1"/>
          </p:cNvSpPr>
          <p:nvPr/>
        </p:nvSpPr>
        <p:spPr>
          <a:xfrm>
            <a:off x="914400" y="45148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C35831-9122-43C9-9908-C1623E0FC5D7}"/>
              </a:ext>
            </a:extLst>
          </p:cNvPr>
          <p:cNvSpPr>
            <a:spLocks noGrp="1"/>
          </p:cNvSpPr>
          <p:nvPr/>
        </p:nvSpPr>
        <p:spPr>
          <a:xfrm>
            <a:off x="1181100" y="441960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觀察 Claude branch 品質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06D2CA-BB27-4240-9BEC-A7019D4B6766}"/>
              </a:ext>
            </a:extLst>
          </p:cNvPr>
          <p:cNvSpPr>
            <a:spLocks noGrp="1"/>
          </p:cNvSpPr>
          <p:nvPr/>
        </p:nvSpPr>
        <p:spPr>
          <a:xfrm>
            <a:off x="4419600" y="2914650"/>
            <a:ext cx="3333750" cy="21907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1BFB19-AAB2-4BDF-8548-22EE994B14E8}"/>
              </a:ext>
            </a:extLst>
          </p:cNvPr>
          <p:cNvSpPr>
            <a:spLocks noGrp="1"/>
          </p:cNvSpPr>
          <p:nvPr/>
        </p:nvSpPr>
        <p:spPr>
          <a:xfrm>
            <a:off x="4724400" y="32194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中期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ACE8A3-025D-4045-BBD9-9BD8C8950C8B}"/>
              </a:ext>
            </a:extLst>
          </p:cNvPr>
          <p:cNvSpPr>
            <a:spLocks noGrp="1"/>
          </p:cNvSpPr>
          <p:nvPr/>
        </p:nvSpPr>
        <p:spPr>
          <a:xfrm>
            <a:off x="4762500" y="38671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58ADCE-42A0-4988-9C78-3FD854A7203E}"/>
              </a:ext>
            </a:extLst>
          </p:cNvPr>
          <p:cNvSpPr>
            <a:spLocks noGrp="1"/>
          </p:cNvSpPr>
          <p:nvPr/>
        </p:nvSpPr>
        <p:spPr>
          <a:xfrm>
            <a:off x="5029200" y="377190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加入 actionlint CI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6451A2-424E-4614-A4CC-11D87FF1B4E1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4BA4B4-D9B2-47B2-9835-5C5480031D4E}"/>
              </a:ext>
            </a:extLst>
          </p:cNvPr>
          <p:cNvSpPr>
            <a:spLocks noGrp="1"/>
          </p:cNvSpPr>
          <p:nvPr/>
        </p:nvSpPr>
        <p:spPr>
          <a:xfrm>
            <a:off x="5029200" y="40957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整理 prompt 範例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E8A05B-4237-4701-828F-5120130217C7}"/>
              </a:ext>
            </a:extLst>
          </p:cNvPr>
          <p:cNvSpPr>
            <a:spLocks noGrp="1"/>
          </p:cNvSpPr>
          <p:nvPr/>
        </p:nvSpPr>
        <p:spPr>
          <a:xfrm>
            <a:off x="4762500" y="45148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85A00-1532-4299-90F0-7BE8A86C6160}"/>
              </a:ext>
            </a:extLst>
          </p:cNvPr>
          <p:cNvSpPr>
            <a:spLocks noGrp="1"/>
          </p:cNvSpPr>
          <p:nvPr/>
        </p:nvSpPr>
        <p:spPr>
          <a:xfrm>
            <a:off x="5029200" y="441960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把測試結果寫成 blog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E3403-4731-4F3F-939A-FBC9EFFA679D}"/>
              </a:ext>
            </a:extLst>
          </p:cNvPr>
          <p:cNvSpPr>
            <a:spLocks noGrp="1"/>
          </p:cNvSpPr>
          <p:nvPr/>
        </p:nvSpPr>
        <p:spPr>
          <a:xfrm>
            <a:off x="8267700" y="2914650"/>
            <a:ext cx="3333750" cy="21907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0B2134-24E2-4409-844C-7C83C518B46D}"/>
              </a:ext>
            </a:extLst>
          </p:cNvPr>
          <p:cNvSpPr>
            <a:spLocks noGrp="1"/>
          </p:cNvSpPr>
          <p:nvPr/>
        </p:nvSpPr>
        <p:spPr>
          <a:xfrm>
            <a:off x="8572500" y="32194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可選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A46F11-13EB-4446-AA9B-A7697354F4D5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FD28E9-3B73-4E98-BC47-42D125E95EE9}"/>
              </a:ext>
            </a:extLst>
          </p:cNvPr>
          <p:cNvSpPr>
            <a:spLocks noGrp="1"/>
          </p:cNvSpPr>
          <p:nvPr/>
        </p:nvSpPr>
        <p:spPr>
          <a:xfrm>
            <a:off x="8877300" y="377190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自動 gh pr create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45094F-0595-4440-B900-28482EF8792E}"/>
              </a:ext>
            </a:extLst>
          </p:cNvPr>
          <p:cNvSpPr>
            <a:spLocks noGrp="1"/>
          </p:cNvSpPr>
          <p:nvPr/>
        </p:nvSpPr>
        <p:spPr>
          <a:xfrm>
            <a:off x="8610600" y="419100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614791-AC72-40E3-A0F1-05410275F4C1}"/>
              </a:ext>
            </a:extLst>
          </p:cNvPr>
          <p:cNvSpPr>
            <a:spLocks noGrp="1"/>
          </p:cNvSpPr>
          <p:nvPr/>
        </p:nvSpPr>
        <p:spPr>
          <a:xfrm>
            <a:off x="8877300" y="40957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label-triggered automations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048D51-C209-4112-B5C7-91A2E5C9ECF9}"/>
              </a:ext>
            </a:extLst>
          </p:cNvPr>
          <p:cNvSpPr>
            <a:spLocks noGrp="1"/>
          </p:cNvSpPr>
          <p:nvPr/>
        </p:nvSpPr>
        <p:spPr>
          <a:xfrm>
            <a:off x="8610600" y="45148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F8F736-1580-4988-AA51-F533E4A93423}"/>
              </a:ext>
            </a:extLst>
          </p:cNvPr>
          <p:cNvSpPr>
            <a:spLocks noGrp="1"/>
          </p:cNvSpPr>
          <p:nvPr/>
        </p:nvSpPr>
        <p:spPr>
          <a:xfrm>
            <a:off x="8877300" y="441960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unit test / docs 專用 workflow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60DB09-6462-4FE6-84DC-8B179D41D72B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參考：Anthropic Claude Code Action docs、GitHub Actions run logs、PR #73 / #75、issue #76。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F5BB38-ED12-4619-A04C-E42C0114CDC1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09344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519</Words>
  <Application>Microsoft Macintosh PowerPoint</Application>
  <DocSecurity>0</DocSecurity>
  <PresentationFormat>Widescreen</PresentationFormat>
  <Paragraphs>130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柯南 賽拉維</cp:lastModifiedBy>
  <cp:revision>2</cp:revision>
  <dcterms:created xsi:type="dcterms:W3CDTF">2026-07-09T02:01:28Z</dcterms:created>
  <dcterms:modified xsi:type="dcterms:W3CDTF">2026-07-09T02:18:04Z</dcterms:modified>
</cp:coreProperties>
</file>